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5A"/>
                </a:solidFill>
                <a:latin typeface="+mn-lt"/>
              </a:rPr>
              <a:t>Time in ms, log scale (labels: fork vs eager copy)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fork() (ms)</c:v>
                </c:pt>
              </c:strCache>
            </c:strRef>
          </c:tx>
          <c:spPr>
            <a:solidFill>
              <a:srgbClr val="0F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16 MB: 0.13 vs 6.5</c:v>
                  </c:pt>
                  <c:pt idx="1">
                    <c:v>64 MB: 0.51 vs 30.5</c:v>
                  </c:pt>
                  <c:pt idx="2">
                    <c:v>128 MB: 0.88 vs 68.6</c:v>
                  </c:pt>
                  <c:pt idx="3">
                    <c:v>256 MB: 1.8 vs 139.6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0.127</c:v>
                </c:pt>
                <c:pt idx="1">
                  <c:v>0.511</c:v>
                </c:pt>
                <c:pt idx="2">
                  <c:v>0.875</c:v>
                </c:pt>
                <c:pt idx="3">
                  <c:v>1.802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eager memcpy (ms)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16 MB: 0.13 vs 6.5</c:v>
                  </c:pt>
                  <c:pt idx="1">
                    <c:v>64 MB: 0.51 vs 30.5</c:v>
                  </c:pt>
                  <c:pt idx="2">
                    <c:v>128 MB: 0.88 vs 68.6</c:v>
                  </c:pt>
                  <c:pt idx="3">
                    <c:v>256 MB: 1.8 vs 139.6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6.484</c:v>
                </c:pt>
                <c:pt idx="1">
                  <c:v>30.541</c:v>
                </c:pt>
                <c:pt idx="2">
                  <c:v>68.563</c:v>
                </c:pt>
                <c:pt idx="3">
                  <c:v>139.586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3A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"/>
          <c:min val="0.01"/>
        </c:scaling>
        <c:delete val="0"/>
        <c:axPos val="l"/>
        <c:majorGridlines>
          <c:spPr>
            <a:ln w="9525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3A5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 The tile grid is our motif: amber pages are shared between parent and child, teal pages are private after a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statement. Four demonstration goals map directly to the four steps of our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moves. Emphasise the last-owner optimisation: if the refcount is already 1 no copy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what src/simcow.c simulates and what the kernel does. Amber = shared frames, teal = private 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Parent and child synchronise through a command pipe so output order is deterministic. Each process opens its own /proc/self/pagemap because the fd is bound to the opener's address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third-party libraries. Everything is standard C and the Linux kernel's own interfaces.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Recorded from a real run: results/demo_default.txt. Each cell is one 4 KiB page. After the parent writes, both processes report 12 private / 20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test runs everything. Non-zero exit code on any failure, so it can run in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from results/demo_pfn.txt and results/demo_default.txt.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results/bench.csv, 1 vCPU VM. Trade-off: if every page is written, COW costs slightly more than an eager copy; it wins when only a fraction of pages change, e.g. fork+exec.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real systems the audience knows.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should be able to explain their own module. See docs/TEAM.md.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Copy-on-Write Memory Demonstrator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OPERATING SYSTEMS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Copy-on-Write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Demonstrator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How fork() shares memory and copies a page only when someone writes to 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Team: &lt;names / roll numbers&gt;   |   Guide: &lt;name&gt;   |   &lt;date&gt;</a:t>
            </a:r>
            <a:endParaRPr lang="en-US" sz="1400" dirty="0"/>
          </a:p>
        </p:txBody>
      </p:sp>
      <p:sp>
        <p:nvSpPr>
          <p:cNvPr id="6" name="page-0-0"/>
          <p:cNvSpPr/>
          <p:nvPr/>
        </p:nvSpPr>
        <p:spPr>
          <a:xfrm>
            <a:off x="8778240" y="1371600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age-0-1"/>
          <p:cNvSpPr/>
          <p:nvPr/>
        </p:nvSpPr>
        <p:spPr>
          <a:xfrm>
            <a:off x="9454896" y="1371600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age-0-2"/>
          <p:cNvSpPr/>
          <p:nvPr/>
        </p:nvSpPr>
        <p:spPr>
          <a:xfrm>
            <a:off x="10131552" y="1371600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age-0-3"/>
          <p:cNvSpPr/>
          <p:nvPr/>
        </p:nvSpPr>
        <p:spPr>
          <a:xfrm>
            <a:off x="10808208" y="1371600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age-1-0"/>
          <p:cNvSpPr/>
          <p:nvPr/>
        </p:nvSpPr>
        <p:spPr>
          <a:xfrm>
            <a:off x="8778240" y="2048256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age-1-1"/>
          <p:cNvSpPr/>
          <p:nvPr/>
        </p:nvSpPr>
        <p:spPr>
          <a:xfrm>
            <a:off x="9454896" y="2048256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age-1-2"/>
          <p:cNvSpPr/>
          <p:nvPr/>
        </p:nvSpPr>
        <p:spPr>
          <a:xfrm>
            <a:off x="10131552" y="2048256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age-1-3"/>
          <p:cNvSpPr/>
          <p:nvPr/>
        </p:nvSpPr>
        <p:spPr>
          <a:xfrm>
            <a:off x="10808208" y="2048256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page-2-0"/>
          <p:cNvSpPr/>
          <p:nvPr/>
        </p:nvSpPr>
        <p:spPr>
          <a:xfrm>
            <a:off x="8778240" y="2724912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page-2-1"/>
          <p:cNvSpPr/>
          <p:nvPr/>
        </p:nvSpPr>
        <p:spPr>
          <a:xfrm>
            <a:off x="9454896" y="2724912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page-2-2"/>
          <p:cNvSpPr/>
          <p:nvPr/>
        </p:nvSpPr>
        <p:spPr>
          <a:xfrm>
            <a:off x="10131552" y="2724912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page-2-3"/>
          <p:cNvSpPr/>
          <p:nvPr/>
        </p:nvSpPr>
        <p:spPr>
          <a:xfrm>
            <a:off x="10808208" y="2724912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page-3-0"/>
          <p:cNvSpPr/>
          <p:nvPr/>
        </p:nvSpPr>
        <p:spPr>
          <a:xfrm>
            <a:off x="8778240" y="3401568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page-3-1"/>
          <p:cNvSpPr/>
          <p:nvPr/>
        </p:nvSpPr>
        <p:spPr>
          <a:xfrm>
            <a:off x="9454896" y="3401568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page-3-2"/>
          <p:cNvSpPr/>
          <p:nvPr/>
        </p:nvSpPr>
        <p:spPr>
          <a:xfrm>
            <a:off x="10131552" y="3401568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page-3-3"/>
          <p:cNvSpPr/>
          <p:nvPr/>
        </p:nvSpPr>
        <p:spPr>
          <a:xfrm>
            <a:off x="10808208" y="3401568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age-4-0"/>
          <p:cNvSpPr/>
          <p:nvPr/>
        </p:nvSpPr>
        <p:spPr>
          <a:xfrm>
            <a:off x="8778240" y="4078224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age-4-1"/>
          <p:cNvSpPr/>
          <p:nvPr/>
        </p:nvSpPr>
        <p:spPr>
          <a:xfrm>
            <a:off x="9454896" y="4078224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page-4-2"/>
          <p:cNvSpPr/>
          <p:nvPr/>
        </p:nvSpPr>
        <p:spPr>
          <a:xfrm>
            <a:off x="10131552" y="4078224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page-4-3"/>
          <p:cNvSpPr/>
          <p:nvPr/>
        </p:nvSpPr>
        <p:spPr>
          <a:xfrm>
            <a:off x="10808208" y="4078224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78240" y="5074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teal = private    amber = shared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problem: fork() looks expensive but isn't</a:t>
            </a:r>
            <a:endParaRPr lang="en-US" sz="3400" dirty="0"/>
          </a:p>
        </p:txBody>
      </p:sp>
      <p:sp>
        <p:nvSpPr>
          <p:cNvPr id="3" name="q-card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puzzle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fork() must give the child a full copy of the parent's memory.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Yet it returns in ~1 ms even for hundreds of MB.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Copying 256 MB eagerly takes ~140 ms.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754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Goal: build a system that makes the hidden mechanism visible and measurable.</a:t>
            </a:r>
            <a:endParaRPr lang="en-US" sz="1800" dirty="0"/>
          </a:p>
        </p:txBody>
      </p:sp>
      <p:sp>
        <p:nvSpPr>
          <p:cNvPr id="7" name="goal-dot-0"/>
          <p:cNvSpPr/>
          <p:nvPr/>
        </p:nvSpPr>
        <p:spPr>
          <a:xfrm>
            <a:off x="6400800" y="166420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6642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Show memory is SHARED after fork()</a:t>
            </a:r>
            <a:endParaRPr lang="en-US" sz="2000" dirty="0"/>
          </a:p>
        </p:txBody>
      </p:sp>
      <p:sp>
        <p:nvSpPr>
          <p:cNvPr id="10" name="goal-dot-1"/>
          <p:cNvSpPr/>
          <p:nvPr/>
        </p:nvSpPr>
        <p:spPr>
          <a:xfrm>
            <a:off x="6400800" y="2834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834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Show reads copy nothing</a:t>
            </a:r>
            <a:endParaRPr lang="en-US" sz="2000" dirty="0"/>
          </a:p>
        </p:txBody>
      </p:sp>
      <p:sp>
        <p:nvSpPr>
          <p:cNvPr id="13" name="goal-dot-2"/>
          <p:cNvSpPr/>
          <p:nvPr/>
        </p:nvSpPr>
        <p:spPr>
          <a:xfrm>
            <a:off x="6400800" y="40050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400507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Show a write copies ONLY that page</a:t>
            </a:r>
            <a:endParaRPr lang="en-US" sz="2000" dirty="0"/>
          </a:p>
        </p:txBody>
      </p:sp>
      <p:sp>
        <p:nvSpPr>
          <p:cNvPr id="16" name="goal-dot-3"/>
          <p:cNvSpPr/>
          <p:nvPr/>
        </p:nvSpPr>
        <p:spPr>
          <a:xfrm>
            <a:off x="6400800" y="517550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51755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517550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Prove the other process is unaffected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Copy-on-Write in four moves</a:t>
            </a:r>
            <a:endParaRPr lang="en-US" sz="3400" dirty="0"/>
          </a:p>
        </p:txBody>
      </p:sp>
      <p:sp>
        <p:nvSpPr>
          <p:cNvPr id="3" name="move-card-0"/>
          <p:cNvSpPr/>
          <p:nvPr/>
        </p:nvSpPr>
        <p:spPr>
          <a:xfrm>
            <a:off x="548640" y="16459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ve-dot-0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fork()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Copy only the page tables. Every frame's reference count becomes 2. Entries marked read-only (COW).</a:t>
            </a:r>
            <a:endParaRPr lang="en-US" sz="1500" dirty="0"/>
          </a:p>
        </p:txBody>
      </p:sp>
      <p:sp>
        <p:nvSpPr>
          <p:cNvPr id="8" name="move-card-1"/>
          <p:cNvSpPr/>
          <p:nvPr/>
        </p:nvSpPr>
        <p:spPr>
          <a:xfrm>
            <a:off x="3383280" y="16459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ove-dot-1"/>
          <p:cNvSpPr/>
          <p:nvPr/>
        </p:nvSpPr>
        <p:spPr>
          <a:xfrm>
            <a:off x="365760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291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Follows the shared mapping. No fault, no copy.</a:t>
            </a:r>
            <a:endParaRPr lang="en-US" sz="1500" dirty="0"/>
          </a:p>
        </p:txBody>
      </p:sp>
      <p:sp>
        <p:nvSpPr>
          <p:cNvPr id="13" name="move-card-2"/>
          <p:cNvSpPr/>
          <p:nvPr/>
        </p:nvSpPr>
        <p:spPr>
          <a:xfrm>
            <a:off x="6217920" y="16459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ove-dot-2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291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Protection fault. Kernel checks the refcount of the frame.</a:t>
            </a:r>
            <a:endParaRPr lang="en-US" sz="1500" dirty="0"/>
          </a:p>
        </p:txBody>
      </p:sp>
      <p:sp>
        <p:nvSpPr>
          <p:cNvPr id="18" name="move-card-3"/>
          <p:cNvSpPr/>
          <p:nvPr/>
        </p:nvSpPr>
        <p:spPr>
          <a:xfrm>
            <a:off x="9052560" y="16459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move-dot-3"/>
          <p:cNvSpPr/>
          <p:nvPr/>
        </p:nvSpPr>
        <p:spPr>
          <a:xfrm>
            <a:off x="9326880" y="1920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291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refcount &gt; 1: allocate frame, copy 4 KiB, remap writable. refcount = 1: just make writable.</a:t>
            </a:r>
            <a:endParaRPr lang="en-US" sz="1500" dirty="0"/>
          </a:p>
        </p:txBody>
      </p:sp>
      <p:sp>
        <p:nvSpPr>
          <p:cNvPr id="23" name="benefit-strip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Result: fast fork, less memory, and work is paid for only on pages that actually change.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design: page tables, frames and reference counts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Parent page table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Physical frames (refcount)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Child page table</a:t>
            </a:r>
            <a:endParaRPr lang="en-US" sz="1800" dirty="0"/>
          </a:p>
        </p:txBody>
      </p:sp>
      <p:sp>
        <p:nvSpPr>
          <p:cNvPr id="6" name="frame-0"/>
          <p:cNvSpPr/>
          <p:nvPr/>
        </p:nvSpPr>
        <p:spPr>
          <a:xfrm>
            <a:off x="4572000" y="2148840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21488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F0  "A"   ref 2</a:t>
            </a:r>
            <a:endParaRPr lang="en-US" sz="1600" dirty="0"/>
          </a:p>
        </p:txBody>
      </p:sp>
      <p:sp>
        <p:nvSpPr>
          <p:cNvPr id="8" name="frame-1"/>
          <p:cNvSpPr/>
          <p:nvPr/>
        </p:nvSpPr>
        <p:spPr>
          <a:xfrm>
            <a:off x="4572000" y="2898648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8986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F1  "B"   ref 1</a:t>
            </a:r>
            <a:endParaRPr lang="en-US" sz="1600" dirty="0"/>
          </a:p>
        </p:txBody>
      </p:sp>
      <p:sp>
        <p:nvSpPr>
          <p:cNvPr id="10" name="frame-2"/>
          <p:cNvSpPr/>
          <p:nvPr/>
        </p:nvSpPr>
        <p:spPr>
          <a:xfrm>
            <a:off x="4572000" y="3648456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36484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F2  "C"   ref 2</a:t>
            </a:r>
            <a:endParaRPr lang="en-US" sz="1600" dirty="0"/>
          </a:p>
        </p:txBody>
      </p:sp>
      <p:sp>
        <p:nvSpPr>
          <p:cNvPr id="12" name="frame-3"/>
          <p:cNvSpPr/>
          <p:nvPr/>
        </p:nvSpPr>
        <p:spPr>
          <a:xfrm>
            <a:off x="4572000" y="4398264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4398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F3  "D"   ref 2</a:t>
            </a:r>
            <a:endParaRPr lang="en-US" sz="1600" dirty="0"/>
          </a:p>
        </p:txBody>
      </p:sp>
      <p:sp>
        <p:nvSpPr>
          <p:cNvPr id="14" name="frame-4"/>
          <p:cNvSpPr/>
          <p:nvPr/>
        </p:nvSpPr>
        <p:spPr>
          <a:xfrm>
            <a:off x="4572000" y="5148072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51480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F4  "B'"   ref 1</a:t>
            </a:r>
            <a:endParaRPr lang="en-US" sz="1600" dirty="0"/>
          </a:p>
        </p:txBody>
      </p:sp>
      <p:sp>
        <p:nvSpPr>
          <p:cNvPr id="16" name="parent-pte-0"/>
          <p:cNvSpPr/>
          <p:nvPr/>
        </p:nvSpPr>
        <p:spPr>
          <a:xfrm>
            <a:off x="822960" y="2148840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21488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page 0 -&gt; F0</a:t>
            </a:r>
            <a:endParaRPr lang="en-US" sz="1600" dirty="0"/>
          </a:p>
        </p:txBody>
      </p:sp>
      <p:sp>
        <p:nvSpPr>
          <p:cNvPr id="18" name="parent-pte-1"/>
          <p:cNvSpPr/>
          <p:nvPr/>
        </p:nvSpPr>
        <p:spPr>
          <a:xfrm>
            <a:off x="822960" y="2898648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28986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page 1 -&gt; F1</a:t>
            </a:r>
            <a:endParaRPr lang="en-US" sz="1600" dirty="0"/>
          </a:p>
        </p:txBody>
      </p:sp>
      <p:sp>
        <p:nvSpPr>
          <p:cNvPr id="20" name="parent-pte-2"/>
          <p:cNvSpPr/>
          <p:nvPr/>
        </p:nvSpPr>
        <p:spPr>
          <a:xfrm>
            <a:off x="822960" y="3648456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6484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page 2 -&gt; F2</a:t>
            </a:r>
            <a:endParaRPr lang="en-US" sz="1600" dirty="0"/>
          </a:p>
        </p:txBody>
      </p:sp>
      <p:sp>
        <p:nvSpPr>
          <p:cNvPr id="22" name="parent-pte-3"/>
          <p:cNvSpPr/>
          <p:nvPr/>
        </p:nvSpPr>
        <p:spPr>
          <a:xfrm>
            <a:off x="822960" y="4398264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398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page 3 -&gt; F3</a:t>
            </a:r>
            <a:endParaRPr lang="en-US" sz="1600" dirty="0"/>
          </a:p>
        </p:txBody>
      </p:sp>
      <p:sp>
        <p:nvSpPr>
          <p:cNvPr id="24" name="child-pte-0"/>
          <p:cNvSpPr/>
          <p:nvPr/>
        </p:nvSpPr>
        <p:spPr>
          <a:xfrm>
            <a:off x="8321040" y="2148840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21488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page 0 -&gt; F0</a:t>
            </a:r>
            <a:endParaRPr lang="en-US" sz="1600" dirty="0"/>
          </a:p>
        </p:txBody>
      </p:sp>
      <p:sp>
        <p:nvSpPr>
          <p:cNvPr id="26" name="child-pte-1"/>
          <p:cNvSpPr/>
          <p:nvPr/>
        </p:nvSpPr>
        <p:spPr>
          <a:xfrm>
            <a:off x="8321040" y="2898648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1040" y="28986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page 1 -&gt; F4</a:t>
            </a:r>
            <a:endParaRPr lang="en-US" sz="1600" dirty="0"/>
          </a:p>
        </p:txBody>
      </p:sp>
      <p:sp>
        <p:nvSpPr>
          <p:cNvPr id="28" name="child-pte-2"/>
          <p:cNvSpPr/>
          <p:nvPr/>
        </p:nvSpPr>
        <p:spPr>
          <a:xfrm>
            <a:off x="8321040" y="3648456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21040" y="36484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page 2 -&gt; F2</a:t>
            </a:r>
            <a:endParaRPr lang="en-US" sz="1600" dirty="0"/>
          </a:p>
        </p:txBody>
      </p:sp>
      <p:sp>
        <p:nvSpPr>
          <p:cNvPr id="30" name="child-pte-3"/>
          <p:cNvSpPr/>
          <p:nvPr/>
        </p:nvSpPr>
        <p:spPr>
          <a:xfrm>
            <a:off x="8321040" y="4398264"/>
            <a:ext cx="2926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398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page 3 -&gt; F3</a:t>
            </a:r>
            <a:endParaRPr lang="en-US" sz="1600" dirty="0"/>
          </a:p>
        </p:txBody>
      </p:sp>
      <p:sp>
        <p:nvSpPr>
          <p:cNvPr id="32" name="plink-0"/>
          <p:cNvSpPr/>
          <p:nvPr/>
        </p:nvSpPr>
        <p:spPr>
          <a:xfrm>
            <a:off x="3749040" y="2432304"/>
            <a:ext cx="8229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3" name="plink-1"/>
          <p:cNvSpPr/>
          <p:nvPr/>
        </p:nvSpPr>
        <p:spPr>
          <a:xfrm>
            <a:off x="3749040" y="3182112"/>
            <a:ext cx="8229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4" name="plink-2"/>
          <p:cNvSpPr/>
          <p:nvPr/>
        </p:nvSpPr>
        <p:spPr>
          <a:xfrm>
            <a:off x="3749040" y="3931920"/>
            <a:ext cx="8229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5" name="plink-3"/>
          <p:cNvSpPr/>
          <p:nvPr/>
        </p:nvSpPr>
        <p:spPr>
          <a:xfrm>
            <a:off x="3749040" y="4681728"/>
            <a:ext cx="8229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6" name="clink-0"/>
          <p:cNvSpPr/>
          <p:nvPr/>
        </p:nvSpPr>
        <p:spPr>
          <a:xfrm>
            <a:off x="7498080" y="2432304"/>
            <a:ext cx="8229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7" name="clink-1"/>
          <p:cNvSpPr/>
          <p:nvPr/>
        </p:nvSpPr>
        <p:spPr>
          <a:xfrm flipV="1">
            <a:off x="7498080" y="3182112"/>
            <a:ext cx="822960" cy="224942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8" name="clink-2"/>
          <p:cNvSpPr/>
          <p:nvPr/>
        </p:nvSpPr>
        <p:spPr>
          <a:xfrm>
            <a:off x="7498080" y="3931920"/>
            <a:ext cx="8229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9" name="clink-3"/>
          <p:cNvSpPr/>
          <p:nvPr/>
        </p:nvSpPr>
        <p:spPr>
          <a:xfrm>
            <a:off x="7498080" y="4681728"/>
            <a:ext cx="8229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State shown: child has written page 1. Pages 0, 2, 3 are still shared (amber, ref 2). Page 1 now has a private copy per process (teal, ref 1).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Implementation: a six-step controlled scenario</a:t>
            </a:r>
            <a:endParaRPr lang="en-US" sz="3400" dirty="0"/>
          </a:p>
        </p:txBody>
      </p:sp>
      <p:graphicFrame>
        <p:nvGraphicFramePr>
          <p:cNvPr id="6" name="step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4572000"/>
                <a:gridCol w="3566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happens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Expected observation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Allocate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mmap N pages, fill each with a known pattern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 private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fork()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child created; page tables copied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 shared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Child reads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sums one byte per page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 faults, still shared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Child writes K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first write to each page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 faults, K private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Parent writes M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other pages, other direction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 faults, K+M private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Verify + exit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content check in both processes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isolation proven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Three independent evidence sources: /proc/self/pagemap (shared vs private, PFN)  |  getrusage page-fault counter  |  content verification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Technologies and components</a:t>
            </a:r>
            <a:endParaRPr lang="en-US" sz="3400" dirty="0"/>
          </a:p>
        </p:txBody>
      </p:sp>
      <p:sp>
        <p:nvSpPr>
          <p:cNvPr id="3" name="tech-card-0"/>
          <p:cNvSpPr/>
          <p:nvPr/>
        </p:nvSpPr>
        <p:spPr>
          <a:xfrm>
            <a:off x="548640" y="164592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ch-dot-0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C11 + POSIX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fork, pipe, mmap, madvise, waitpid</a:t>
            </a:r>
            <a:endParaRPr lang="en-US" sz="1500" dirty="0"/>
          </a:p>
        </p:txBody>
      </p:sp>
      <p:sp>
        <p:nvSpPr>
          <p:cNvPr id="7" name="tech-card-1"/>
          <p:cNvSpPr/>
          <p:nvPr/>
        </p:nvSpPr>
        <p:spPr>
          <a:xfrm>
            <a:off x="4297680" y="164592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ch-dot-1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/proc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pagemap bits: present, exclusive, PFN</a:t>
            </a:r>
            <a:endParaRPr lang="en-US" sz="1500" dirty="0"/>
          </a:p>
        </p:txBody>
      </p:sp>
      <p:sp>
        <p:nvSpPr>
          <p:cNvPr id="11" name="tech-card-2"/>
          <p:cNvSpPr/>
          <p:nvPr/>
        </p:nvSpPr>
        <p:spPr>
          <a:xfrm>
            <a:off x="8046720" y="164592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ch-dot-2"/>
          <p:cNvSpPr/>
          <p:nvPr/>
        </p:nvSpPr>
        <p:spPr>
          <a:xfrm>
            <a:off x="832104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getrusage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minor page-fault counter</a:t>
            </a:r>
            <a:endParaRPr lang="en-US" sz="1500" dirty="0"/>
          </a:p>
        </p:txBody>
      </p:sp>
      <p:sp>
        <p:nvSpPr>
          <p:cNvPr id="15" name="tech-card-3"/>
          <p:cNvSpPr/>
          <p:nvPr/>
        </p:nvSpPr>
        <p:spPr>
          <a:xfrm>
            <a:off x="548640" y="384048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ch-dot-3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+ Bash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and 10-case test suite</a:t>
            </a:r>
            <a:endParaRPr lang="en-US" sz="1500" dirty="0"/>
          </a:p>
        </p:txBody>
      </p:sp>
      <p:sp>
        <p:nvSpPr>
          <p:cNvPr id="19" name="tech-card-4"/>
          <p:cNvSpPr/>
          <p:nvPr/>
        </p:nvSpPr>
        <p:spPr>
          <a:xfrm>
            <a:off x="4297680" y="384048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ch-dot-4"/>
          <p:cNvSpPr/>
          <p:nvPr/>
        </p:nvSpPr>
        <p:spPr>
          <a:xfrm>
            <a:off x="457200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simcow.c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user-space page-table simulator</a:t>
            </a:r>
            <a:endParaRPr lang="en-US" sz="1500" dirty="0"/>
          </a:p>
        </p:txBody>
      </p:sp>
      <p:sp>
        <p:nvSpPr>
          <p:cNvPr id="23" name="tech-card-5"/>
          <p:cNvSpPr/>
          <p:nvPr/>
        </p:nvSpPr>
        <p:spPr>
          <a:xfrm>
            <a:off x="8046720" y="384048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ch-dot-5"/>
          <p:cNvSpPr/>
          <p:nvPr/>
        </p:nvSpPr>
        <p:spPr>
          <a:xfrm>
            <a:off x="8321040" y="41148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/ GitHub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source, README, report, slides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demo shows: the page map at each step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Before fork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02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0 faults</a:t>
            </a:r>
            <a:endParaRPr lang="en-US" sz="1300" dirty="0"/>
          </a:p>
        </p:txBody>
      </p:sp>
      <p:sp>
        <p:nvSpPr>
          <p:cNvPr id="5" name="map-0-0"/>
          <p:cNvSpPr/>
          <p:nvPr/>
        </p:nvSpPr>
        <p:spPr>
          <a:xfrm>
            <a:off x="2926080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map-0-1"/>
          <p:cNvSpPr/>
          <p:nvPr/>
        </p:nvSpPr>
        <p:spPr>
          <a:xfrm>
            <a:off x="3191256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map-0-2"/>
          <p:cNvSpPr/>
          <p:nvPr/>
        </p:nvSpPr>
        <p:spPr>
          <a:xfrm>
            <a:off x="3456432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ap-0-3"/>
          <p:cNvSpPr/>
          <p:nvPr/>
        </p:nvSpPr>
        <p:spPr>
          <a:xfrm>
            <a:off x="3721608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ap-0-4"/>
          <p:cNvSpPr/>
          <p:nvPr/>
        </p:nvSpPr>
        <p:spPr>
          <a:xfrm>
            <a:off x="3986784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map-0-5"/>
          <p:cNvSpPr/>
          <p:nvPr/>
        </p:nvSpPr>
        <p:spPr>
          <a:xfrm>
            <a:off x="4251960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map-0-6"/>
          <p:cNvSpPr/>
          <p:nvPr/>
        </p:nvSpPr>
        <p:spPr>
          <a:xfrm>
            <a:off x="4517136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map-0-7"/>
          <p:cNvSpPr/>
          <p:nvPr/>
        </p:nvSpPr>
        <p:spPr>
          <a:xfrm>
            <a:off x="4782312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map-0-8"/>
          <p:cNvSpPr/>
          <p:nvPr/>
        </p:nvSpPr>
        <p:spPr>
          <a:xfrm>
            <a:off x="5047488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map-0-9"/>
          <p:cNvSpPr/>
          <p:nvPr/>
        </p:nvSpPr>
        <p:spPr>
          <a:xfrm>
            <a:off x="5312664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map-0-10"/>
          <p:cNvSpPr/>
          <p:nvPr/>
        </p:nvSpPr>
        <p:spPr>
          <a:xfrm>
            <a:off x="5577840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map-0-11"/>
          <p:cNvSpPr/>
          <p:nvPr/>
        </p:nvSpPr>
        <p:spPr>
          <a:xfrm>
            <a:off x="5843016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map-0-12"/>
          <p:cNvSpPr/>
          <p:nvPr/>
        </p:nvSpPr>
        <p:spPr>
          <a:xfrm>
            <a:off x="6108192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map-0-13"/>
          <p:cNvSpPr/>
          <p:nvPr/>
        </p:nvSpPr>
        <p:spPr>
          <a:xfrm>
            <a:off x="6373368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map-0-14"/>
          <p:cNvSpPr/>
          <p:nvPr/>
        </p:nvSpPr>
        <p:spPr>
          <a:xfrm>
            <a:off x="6638544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map-0-15"/>
          <p:cNvSpPr/>
          <p:nvPr/>
        </p:nvSpPr>
        <p:spPr>
          <a:xfrm>
            <a:off x="6903720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map-0-16"/>
          <p:cNvSpPr/>
          <p:nvPr/>
        </p:nvSpPr>
        <p:spPr>
          <a:xfrm>
            <a:off x="7168896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map-0-17"/>
          <p:cNvSpPr/>
          <p:nvPr/>
        </p:nvSpPr>
        <p:spPr>
          <a:xfrm>
            <a:off x="7434072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map-0-18"/>
          <p:cNvSpPr/>
          <p:nvPr/>
        </p:nvSpPr>
        <p:spPr>
          <a:xfrm>
            <a:off x="7699248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map-0-19"/>
          <p:cNvSpPr/>
          <p:nvPr/>
        </p:nvSpPr>
        <p:spPr>
          <a:xfrm>
            <a:off x="7964424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map-0-20"/>
          <p:cNvSpPr/>
          <p:nvPr/>
        </p:nvSpPr>
        <p:spPr>
          <a:xfrm>
            <a:off x="8229600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map-0-21"/>
          <p:cNvSpPr/>
          <p:nvPr/>
        </p:nvSpPr>
        <p:spPr>
          <a:xfrm>
            <a:off x="8494776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map-0-22"/>
          <p:cNvSpPr/>
          <p:nvPr/>
        </p:nvSpPr>
        <p:spPr>
          <a:xfrm>
            <a:off x="8759952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map-0-23"/>
          <p:cNvSpPr/>
          <p:nvPr/>
        </p:nvSpPr>
        <p:spPr>
          <a:xfrm>
            <a:off x="9025128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map-0-24"/>
          <p:cNvSpPr/>
          <p:nvPr/>
        </p:nvSpPr>
        <p:spPr>
          <a:xfrm>
            <a:off x="9290304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map-0-25"/>
          <p:cNvSpPr/>
          <p:nvPr/>
        </p:nvSpPr>
        <p:spPr>
          <a:xfrm>
            <a:off x="9555480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map-0-26"/>
          <p:cNvSpPr/>
          <p:nvPr/>
        </p:nvSpPr>
        <p:spPr>
          <a:xfrm>
            <a:off x="9820656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map-0-27"/>
          <p:cNvSpPr/>
          <p:nvPr/>
        </p:nvSpPr>
        <p:spPr>
          <a:xfrm>
            <a:off x="10085832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map-0-28"/>
          <p:cNvSpPr/>
          <p:nvPr/>
        </p:nvSpPr>
        <p:spPr>
          <a:xfrm>
            <a:off x="10351008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map-0-29"/>
          <p:cNvSpPr/>
          <p:nvPr/>
        </p:nvSpPr>
        <p:spPr>
          <a:xfrm>
            <a:off x="10616184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map-0-30"/>
          <p:cNvSpPr/>
          <p:nvPr/>
        </p:nvSpPr>
        <p:spPr>
          <a:xfrm>
            <a:off x="10881360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map-0-31"/>
          <p:cNvSpPr/>
          <p:nvPr/>
        </p:nvSpPr>
        <p:spPr>
          <a:xfrm>
            <a:off x="11146536" y="1691640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2532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After fork()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0 copies</a:t>
            </a:r>
            <a:endParaRPr lang="en-US" sz="1300" dirty="0"/>
          </a:p>
        </p:txBody>
      </p:sp>
      <p:sp>
        <p:nvSpPr>
          <p:cNvPr id="39" name="map-1-0"/>
          <p:cNvSpPr/>
          <p:nvPr/>
        </p:nvSpPr>
        <p:spPr>
          <a:xfrm>
            <a:off x="2926080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map-1-1"/>
          <p:cNvSpPr/>
          <p:nvPr/>
        </p:nvSpPr>
        <p:spPr>
          <a:xfrm>
            <a:off x="3191256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map-1-2"/>
          <p:cNvSpPr/>
          <p:nvPr/>
        </p:nvSpPr>
        <p:spPr>
          <a:xfrm>
            <a:off x="3456432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map-1-3"/>
          <p:cNvSpPr/>
          <p:nvPr/>
        </p:nvSpPr>
        <p:spPr>
          <a:xfrm>
            <a:off x="3721608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map-1-4"/>
          <p:cNvSpPr/>
          <p:nvPr/>
        </p:nvSpPr>
        <p:spPr>
          <a:xfrm>
            <a:off x="3986784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map-1-5"/>
          <p:cNvSpPr/>
          <p:nvPr/>
        </p:nvSpPr>
        <p:spPr>
          <a:xfrm>
            <a:off x="4251960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map-1-6"/>
          <p:cNvSpPr/>
          <p:nvPr/>
        </p:nvSpPr>
        <p:spPr>
          <a:xfrm>
            <a:off x="4517136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6" name="map-1-7"/>
          <p:cNvSpPr/>
          <p:nvPr/>
        </p:nvSpPr>
        <p:spPr>
          <a:xfrm>
            <a:off x="4782312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7" name="map-1-8"/>
          <p:cNvSpPr/>
          <p:nvPr/>
        </p:nvSpPr>
        <p:spPr>
          <a:xfrm>
            <a:off x="5047488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8" name="map-1-9"/>
          <p:cNvSpPr/>
          <p:nvPr/>
        </p:nvSpPr>
        <p:spPr>
          <a:xfrm>
            <a:off x="5312664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9" name="map-1-10"/>
          <p:cNvSpPr/>
          <p:nvPr/>
        </p:nvSpPr>
        <p:spPr>
          <a:xfrm>
            <a:off x="5577840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0" name="map-1-11"/>
          <p:cNvSpPr/>
          <p:nvPr/>
        </p:nvSpPr>
        <p:spPr>
          <a:xfrm>
            <a:off x="5843016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1" name="map-1-12"/>
          <p:cNvSpPr/>
          <p:nvPr/>
        </p:nvSpPr>
        <p:spPr>
          <a:xfrm>
            <a:off x="6108192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2" name="map-1-13"/>
          <p:cNvSpPr/>
          <p:nvPr/>
        </p:nvSpPr>
        <p:spPr>
          <a:xfrm>
            <a:off x="6373368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3" name="map-1-14"/>
          <p:cNvSpPr/>
          <p:nvPr/>
        </p:nvSpPr>
        <p:spPr>
          <a:xfrm>
            <a:off x="6638544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4" name="map-1-15"/>
          <p:cNvSpPr/>
          <p:nvPr/>
        </p:nvSpPr>
        <p:spPr>
          <a:xfrm>
            <a:off x="6903720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5" name="map-1-16"/>
          <p:cNvSpPr/>
          <p:nvPr/>
        </p:nvSpPr>
        <p:spPr>
          <a:xfrm>
            <a:off x="7168896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6" name="map-1-17"/>
          <p:cNvSpPr/>
          <p:nvPr/>
        </p:nvSpPr>
        <p:spPr>
          <a:xfrm>
            <a:off x="7434072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7" name="map-1-18"/>
          <p:cNvSpPr/>
          <p:nvPr/>
        </p:nvSpPr>
        <p:spPr>
          <a:xfrm>
            <a:off x="7699248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8" name="map-1-19"/>
          <p:cNvSpPr/>
          <p:nvPr/>
        </p:nvSpPr>
        <p:spPr>
          <a:xfrm>
            <a:off x="7964424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9" name="map-1-20"/>
          <p:cNvSpPr/>
          <p:nvPr/>
        </p:nvSpPr>
        <p:spPr>
          <a:xfrm>
            <a:off x="8229600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0" name="map-1-21"/>
          <p:cNvSpPr/>
          <p:nvPr/>
        </p:nvSpPr>
        <p:spPr>
          <a:xfrm>
            <a:off x="8494776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1" name="map-1-22"/>
          <p:cNvSpPr/>
          <p:nvPr/>
        </p:nvSpPr>
        <p:spPr>
          <a:xfrm>
            <a:off x="8759952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2" name="map-1-23"/>
          <p:cNvSpPr/>
          <p:nvPr/>
        </p:nvSpPr>
        <p:spPr>
          <a:xfrm>
            <a:off x="9025128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3" name="map-1-24"/>
          <p:cNvSpPr/>
          <p:nvPr/>
        </p:nvSpPr>
        <p:spPr>
          <a:xfrm>
            <a:off x="9290304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4" name="map-1-25"/>
          <p:cNvSpPr/>
          <p:nvPr/>
        </p:nvSpPr>
        <p:spPr>
          <a:xfrm>
            <a:off x="9555480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5" name="map-1-26"/>
          <p:cNvSpPr/>
          <p:nvPr/>
        </p:nvSpPr>
        <p:spPr>
          <a:xfrm>
            <a:off x="9820656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6" name="map-1-27"/>
          <p:cNvSpPr/>
          <p:nvPr/>
        </p:nvSpPr>
        <p:spPr>
          <a:xfrm>
            <a:off x="10085832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7" name="map-1-28"/>
          <p:cNvSpPr/>
          <p:nvPr/>
        </p:nvSpPr>
        <p:spPr>
          <a:xfrm>
            <a:off x="10351008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8" name="map-1-29"/>
          <p:cNvSpPr/>
          <p:nvPr/>
        </p:nvSpPr>
        <p:spPr>
          <a:xfrm>
            <a:off x="10616184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9" name="map-1-30"/>
          <p:cNvSpPr/>
          <p:nvPr/>
        </p:nvSpPr>
        <p:spPr>
          <a:xfrm>
            <a:off x="10881360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0" name="map-1-31"/>
          <p:cNvSpPr/>
          <p:nvPr/>
        </p:nvSpPr>
        <p:spPr>
          <a:xfrm>
            <a:off x="11146536" y="2532888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48640" y="3374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Child reads all</a:t>
            </a:r>
            <a:endParaRPr lang="en-US" sz="1800" dirty="0"/>
          </a:p>
        </p:txBody>
      </p:sp>
      <p:sp>
        <p:nvSpPr>
          <p:cNvPr id="72" name="Text 70"/>
          <p:cNvSpPr txBox="1"/>
          <p:nvPr/>
        </p:nvSpPr>
        <p:spPr>
          <a:xfrm>
            <a:off x="548640" y="3685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0 faults</a:t>
            </a:r>
            <a:endParaRPr lang="en-US" sz="1300" dirty="0"/>
          </a:p>
        </p:txBody>
      </p:sp>
      <p:sp>
        <p:nvSpPr>
          <p:cNvPr id="73" name="map-2-0"/>
          <p:cNvSpPr/>
          <p:nvPr/>
        </p:nvSpPr>
        <p:spPr>
          <a:xfrm>
            <a:off x="2926080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map-2-1"/>
          <p:cNvSpPr/>
          <p:nvPr/>
        </p:nvSpPr>
        <p:spPr>
          <a:xfrm>
            <a:off x="3191256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map-2-2"/>
          <p:cNvSpPr/>
          <p:nvPr/>
        </p:nvSpPr>
        <p:spPr>
          <a:xfrm>
            <a:off x="3456432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map-2-3"/>
          <p:cNvSpPr/>
          <p:nvPr/>
        </p:nvSpPr>
        <p:spPr>
          <a:xfrm>
            <a:off x="3721608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map-2-4"/>
          <p:cNvSpPr/>
          <p:nvPr/>
        </p:nvSpPr>
        <p:spPr>
          <a:xfrm>
            <a:off x="3986784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map-2-5"/>
          <p:cNvSpPr/>
          <p:nvPr/>
        </p:nvSpPr>
        <p:spPr>
          <a:xfrm>
            <a:off x="4251960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map-2-6"/>
          <p:cNvSpPr/>
          <p:nvPr/>
        </p:nvSpPr>
        <p:spPr>
          <a:xfrm>
            <a:off x="4517136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map-2-7"/>
          <p:cNvSpPr/>
          <p:nvPr/>
        </p:nvSpPr>
        <p:spPr>
          <a:xfrm>
            <a:off x="4782312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map-2-8"/>
          <p:cNvSpPr/>
          <p:nvPr/>
        </p:nvSpPr>
        <p:spPr>
          <a:xfrm>
            <a:off x="5047488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map-2-9"/>
          <p:cNvSpPr/>
          <p:nvPr/>
        </p:nvSpPr>
        <p:spPr>
          <a:xfrm>
            <a:off x="5312664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map-2-10"/>
          <p:cNvSpPr/>
          <p:nvPr/>
        </p:nvSpPr>
        <p:spPr>
          <a:xfrm>
            <a:off x="5577840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map-2-11"/>
          <p:cNvSpPr/>
          <p:nvPr/>
        </p:nvSpPr>
        <p:spPr>
          <a:xfrm>
            <a:off x="5843016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map-2-12"/>
          <p:cNvSpPr/>
          <p:nvPr/>
        </p:nvSpPr>
        <p:spPr>
          <a:xfrm>
            <a:off x="6108192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map-2-13"/>
          <p:cNvSpPr/>
          <p:nvPr/>
        </p:nvSpPr>
        <p:spPr>
          <a:xfrm>
            <a:off x="6373368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map-2-14"/>
          <p:cNvSpPr/>
          <p:nvPr/>
        </p:nvSpPr>
        <p:spPr>
          <a:xfrm>
            <a:off x="6638544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8" name="map-2-15"/>
          <p:cNvSpPr/>
          <p:nvPr/>
        </p:nvSpPr>
        <p:spPr>
          <a:xfrm>
            <a:off x="6903720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9" name="map-2-16"/>
          <p:cNvSpPr/>
          <p:nvPr/>
        </p:nvSpPr>
        <p:spPr>
          <a:xfrm>
            <a:off x="7168896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0" name="map-2-17"/>
          <p:cNvSpPr/>
          <p:nvPr/>
        </p:nvSpPr>
        <p:spPr>
          <a:xfrm>
            <a:off x="7434072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1" name="map-2-18"/>
          <p:cNvSpPr/>
          <p:nvPr/>
        </p:nvSpPr>
        <p:spPr>
          <a:xfrm>
            <a:off x="7699248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2" name="map-2-19"/>
          <p:cNvSpPr/>
          <p:nvPr/>
        </p:nvSpPr>
        <p:spPr>
          <a:xfrm>
            <a:off x="7964424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3" name="map-2-20"/>
          <p:cNvSpPr/>
          <p:nvPr/>
        </p:nvSpPr>
        <p:spPr>
          <a:xfrm>
            <a:off x="8229600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4" name="map-2-21"/>
          <p:cNvSpPr/>
          <p:nvPr/>
        </p:nvSpPr>
        <p:spPr>
          <a:xfrm>
            <a:off x="8494776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5" name="map-2-22"/>
          <p:cNvSpPr/>
          <p:nvPr/>
        </p:nvSpPr>
        <p:spPr>
          <a:xfrm>
            <a:off x="8759952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6" name="map-2-23"/>
          <p:cNvSpPr/>
          <p:nvPr/>
        </p:nvSpPr>
        <p:spPr>
          <a:xfrm>
            <a:off x="9025128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7" name="map-2-24"/>
          <p:cNvSpPr/>
          <p:nvPr/>
        </p:nvSpPr>
        <p:spPr>
          <a:xfrm>
            <a:off x="9290304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8" name="map-2-25"/>
          <p:cNvSpPr/>
          <p:nvPr/>
        </p:nvSpPr>
        <p:spPr>
          <a:xfrm>
            <a:off x="9555480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9" name="map-2-26"/>
          <p:cNvSpPr/>
          <p:nvPr/>
        </p:nvSpPr>
        <p:spPr>
          <a:xfrm>
            <a:off x="9820656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0" name="map-2-27"/>
          <p:cNvSpPr/>
          <p:nvPr/>
        </p:nvSpPr>
        <p:spPr>
          <a:xfrm>
            <a:off x="10085832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1" name="map-2-28"/>
          <p:cNvSpPr/>
          <p:nvPr/>
        </p:nvSpPr>
        <p:spPr>
          <a:xfrm>
            <a:off x="10351008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2" name="map-2-29"/>
          <p:cNvSpPr/>
          <p:nvPr/>
        </p:nvSpPr>
        <p:spPr>
          <a:xfrm>
            <a:off x="10616184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3" name="map-2-30"/>
          <p:cNvSpPr/>
          <p:nvPr/>
        </p:nvSpPr>
        <p:spPr>
          <a:xfrm>
            <a:off x="10881360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4" name="map-2-31"/>
          <p:cNvSpPr/>
          <p:nvPr/>
        </p:nvSpPr>
        <p:spPr>
          <a:xfrm>
            <a:off x="11146536" y="3374136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48640" y="4215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Child writes 8</a:t>
            </a:r>
            <a:endParaRPr lang="en-US" sz="1800" dirty="0"/>
          </a:p>
        </p:txBody>
      </p:sp>
      <p:sp>
        <p:nvSpPr>
          <p:cNvPr id="106" name="Text 104"/>
          <p:cNvSpPr txBox="1"/>
          <p:nvPr/>
        </p:nvSpPr>
        <p:spPr>
          <a:xfrm>
            <a:off x="54864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8 faults</a:t>
            </a:r>
            <a:endParaRPr lang="en-US" sz="1300" dirty="0"/>
          </a:p>
        </p:txBody>
      </p:sp>
      <p:sp>
        <p:nvSpPr>
          <p:cNvPr id="107" name="map-3-0"/>
          <p:cNvSpPr/>
          <p:nvPr/>
        </p:nvSpPr>
        <p:spPr>
          <a:xfrm>
            <a:off x="2926080" y="4215384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8" name="map-3-1"/>
          <p:cNvSpPr/>
          <p:nvPr/>
        </p:nvSpPr>
        <p:spPr>
          <a:xfrm>
            <a:off x="3191256" y="4215384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9" name="map-3-2"/>
          <p:cNvSpPr/>
          <p:nvPr/>
        </p:nvSpPr>
        <p:spPr>
          <a:xfrm>
            <a:off x="3456432" y="4215384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0" name="map-3-3"/>
          <p:cNvSpPr/>
          <p:nvPr/>
        </p:nvSpPr>
        <p:spPr>
          <a:xfrm>
            <a:off x="3721608" y="4215384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1" name="map-3-4"/>
          <p:cNvSpPr/>
          <p:nvPr/>
        </p:nvSpPr>
        <p:spPr>
          <a:xfrm>
            <a:off x="3986784" y="4215384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2" name="map-3-5"/>
          <p:cNvSpPr/>
          <p:nvPr/>
        </p:nvSpPr>
        <p:spPr>
          <a:xfrm>
            <a:off x="4251960" y="4215384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3" name="map-3-6"/>
          <p:cNvSpPr/>
          <p:nvPr/>
        </p:nvSpPr>
        <p:spPr>
          <a:xfrm>
            <a:off x="4517136" y="4215384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4" name="map-3-7"/>
          <p:cNvSpPr/>
          <p:nvPr/>
        </p:nvSpPr>
        <p:spPr>
          <a:xfrm>
            <a:off x="4782312" y="4215384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5" name="map-3-8"/>
          <p:cNvSpPr/>
          <p:nvPr/>
        </p:nvSpPr>
        <p:spPr>
          <a:xfrm>
            <a:off x="5047488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6" name="map-3-9"/>
          <p:cNvSpPr/>
          <p:nvPr/>
        </p:nvSpPr>
        <p:spPr>
          <a:xfrm>
            <a:off x="5312664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7" name="map-3-10"/>
          <p:cNvSpPr/>
          <p:nvPr/>
        </p:nvSpPr>
        <p:spPr>
          <a:xfrm>
            <a:off x="5577840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8" name="map-3-11"/>
          <p:cNvSpPr/>
          <p:nvPr/>
        </p:nvSpPr>
        <p:spPr>
          <a:xfrm>
            <a:off x="5843016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9" name="map-3-12"/>
          <p:cNvSpPr/>
          <p:nvPr/>
        </p:nvSpPr>
        <p:spPr>
          <a:xfrm>
            <a:off x="6108192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0" name="map-3-13"/>
          <p:cNvSpPr/>
          <p:nvPr/>
        </p:nvSpPr>
        <p:spPr>
          <a:xfrm>
            <a:off x="6373368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1" name="map-3-14"/>
          <p:cNvSpPr/>
          <p:nvPr/>
        </p:nvSpPr>
        <p:spPr>
          <a:xfrm>
            <a:off x="6638544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2" name="map-3-15"/>
          <p:cNvSpPr/>
          <p:nvPr/>
        </p:nvSpPr>
        <p:spPr>
          <a:xfrm>
            <a:off x="6903720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3" name="map-3-16"/>
          <p:cNvSpPr/>
          <p:nvPr/>
        </p:nvSpPr>
        <p:spPr>
          <a:xfrm>
            <a:off x="7168896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4" name="map-3-17"/>
          <p:cNvSpPr/>
          <p:nvPr/>
        </p:nvSpPr>
        <p:spPr>
          <a:xfrm>
            <a:off x="7434072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5" name="map-3-18"/>
          <p:cNvSpPr/>
          <p:nvPr/>
        </p:nvSpPr>
        <p:spPr>
          <a:xfrm>
            <a:off x="7699248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6" name="map-3-19"/>
          <p:cNvSpPr/>
          <p:nvPr/>
        </p:nvSpPr>
        <p:spPr>
          <a:xfrm>
            <a:off x="7964424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7" name="map-3-20"/>
          <p:cNvSpPr/>
          <p:nvPr/>
        </p:nvSpPr>
        <p:spPr>
          <a:xfrm>
            <a:off x="8229600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8" name="map-3-21"/>
          <p:cNvSpPr/>
          <p:nvPr/>
        </p:nvSpPr>
        <p:spPr>
          <a:xfrm>
            <a:off x="8494776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9" name="map-3-22"/>
          <p:cNvSpPr/>
          <p:nvPr/>
        </p:nvSpPr>
        <p:spPr>
          <a:xfrm>
            <a:off x="8759952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0" name="map-3-23"/>
          <p:cNvSpPr/>
          <p:nvPr/>
        </p:nvSpPr>
        <p:spPr>
          <a:xfrm>
            <a:off x="9025128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1" name="map-3-24"/>
          <p:cNvSpPr/>
          <p:nvPr/>
        </p:nvSpPr>
        <p:spPr>
          <a:xfrm>
            <a:off x="9290304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2" name="map-3-25"/>
          <p:cNvSpPr/>
          <p:nvPr/>
        </p:nvSpPr>
        <p:spPr>
          <a:xfrm>
            <a:off x="9555480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3" name="map-3-26"/>
          <p:cNvSpPr/>
          <p:nvPr/>
        </p:nvSpPr>
        <p:spPr>
          <a:xfrm>
            <a:off x="9820656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4" name="map-3-27"/>
          <p:cNvSpPr/>
          <p:nvPr/>
        </p:nvSpPr>
        <p:spPr>
          <a:xfrm>
            <a:off x="10085832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5" name="map-3-28"/>
          <p:cNvSpPr/>
          <p:nvPr/>
        </p:nvSpPr>
        <p:spPr>
          <a:xfrm>
            <a:off x="10351008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6" name="map-3-29"/>
          <p:cNvSpPr/>
          <p:nvPr/>
        </p:nvSpPr>
        <p:spPr>
          <a:xfrm>
            <a:off x="10616184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7" name="map-3-30"/>
          <p:cNvSpPr/>
          <p:nvPr/>
        </p:nvSpPr>
        <p:spPr>
          <a:xfrm>
            <a:off x="10881360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8" name="map-3-31"/>
          <p:cNvSpPr/>
          <p:nvPr/>
        </p:nvSpPr>
        <p:spPr>
          <a:xfrm>
            <a:off x="11146536" y="4215384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548640" y="5056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Parent writes 4</a:t>
            </a:r>
            <a:endParaRPr lang="en-US" sz="1800" dirty="0"/>
          </a:p>
        </p:txBody>
      </p:sp>
      <p:sp>
        <p:nvSpPr>
          <p:cNvPr id="140" name="Text 138"/>
          <p:cNvSpPr txBox="1"/>
          <p:nvPr/>
        </p:nvSpPr>
        <p:spPr>
          <a:xfrm>
            <a:off x="548640" y="5367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+4 faults</a:t>
            </a:r>
            <a:endParaRPr lang="en-US" sz="1300" dirty="0"/>
          </a:p>
        </p:txBody>
      </p:sp>
      <p:sp>
        <p:nvSpPr>
          <p:cNvPr id="141" name="map-4-0"/>
          <p:cNvSpPr/>
          <p:nvPr/>
        </p:nvSpPr>
        <p:spPr>
          <a:xfrm>
            <a:off x="2926080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2" name="map-4-1"/>
          <p:cNvSpPr/>
          <p:nvPr/>
        </p:nvSpPr>
        <p:spPr>
          <a:xfrm>
            <a:off x="3191256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3" name="map-4-2"/>
          <p:cNvSpPr/>
          <p:nvPr/>
        </p:nvSpPr>
        <p:spPr>
          <a:xfrm>
            <a:off x="3456432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4" name="map-4-3"/>
          <p:cNvSpPr/>
          <p:nvPr/>
        </p:nvSpPr>
        <p:spPr>
          <a:xfrm>
            <a:off x="3721608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5" name="map-4-4"/>
          <p:cNvSpPr/>
          <p:nvPr/>
        </p:nvSpPr>
        <p:spPr>
          <a:xfrm>
            <a:off x="3986784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6" name="map-4-5"/>
          <p:cNvSpPr/>
          <p:nvPr/>
        </p:nvSpPr>
        <p:spPr>
          <a:xfrm>
            <a:off x="4251960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7" name="map-4-6"/>
          <p:cNvSpPr/>
          <p:nvPr/>
        </p:nvSpPr>
        <p:spPr>
          <a:xfrm>
            <a:off x="4517136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8" name="map-4-7"/>
          <p:cNvSpPr/>
          <p:nvPr/>
        </p:nvSpPr>
        <p:spPr>
          <a:xfrm>
            <a:off x="4782312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9" name="map-4-8"/>
          <p:cNvSpPr/>
          <p:nvPr/>
        </p:nvSpPr>
        <p:spPr>
          <a:xfrm>
            <a:off x="5047488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0" name="map-4-9"/>
          <p:cNvSpPr/>
          <p:nvPr/>
        </p:nvSpPr>
        <p:spPr>
          <a:xfrm>
            <a:off x="5312664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1" name="map-4-10"/>
          <p:cNvSpPr/>
          <p:nvPr/>
        </p:nvSpPr>
        <p:spPr>
          <a:xfrm>
            <a:off x="5577840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2" name="map-4-11"/>
          <p:cNvSpPr/>
          <p:nvPr/>
        </p:nvSpPr>
        <p:spPr>
          <a:xfrm>
            <a:off x="5843016" y="5056632"/>
            <a:ext cx="237744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3" name="map-4-12"/>
          <p:cNvSpPr/>
          <p:nvPr/>
        </p:nvSpPr>
        <p:spPr>
          <a:xfrm>
            <a:off x="6108192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4" name="map-4-13"/>
          <p:cNvSpPr/>
          <p:nvPr/>
        </p:nvSpPr>
        <p:spPr>
          <a:xfrm>
            <a:off x="6373368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5" name="map-4-14"/>
          <p:cNvSpPr/>
          <p:nvPr/>
        </p:nvSpPr>
        <p:spPr>
          <a:xfrm>
            <a:off x="6638544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6" name="map-4-15"/>
          <p:cNvSpPr/>
          <p:nvPr/>
        </p:nvSpPr>
        <p:spPr>
          <a:xfrm>
            <a:off x="6903720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7" name="map-4-16"/>
          <p:cNvSpPr/>
          <p:nvPr/>
        </p:nvSpPr>
        <p:spPr>
          <a:xfrm>
            <a:off x="7168896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8" name="map-4-17"/>
          <p:cNvSpPr/>
          <p:nvPr/>
        </p:nvSpPr>
        <p:spPr>
          <a:xfrm>
            <a:off x="7434072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9" name="map-4-18"/>
          <p:cNvSpPr/>
          <p:nvPr/>
        </p:nvSpPr>
        <p:spPr>
          <a:xfrm>
            <a:off x="7699248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0" name="map-4-19"/>
          <p:cNvSpPr/>
          <p:nvPr/>
        </p:nvSpPr>
        <p:spPr>
          <a:xfrm>
            <a:off x="7964424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1" name="map-4-20"/>
          <p:cNvSpPr/>
          <p:nvPr/>
        </p:nvSpPr>
        <p:spPr>
          <a:xfrm>
            <a:off x="8229600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2" name="map-4-21"/>
          <p:cNvSpPr/>
          <p:nvPr/>
        </p:nvSpPr>
        <p:spPr>
          <a:xfrm>
            <a:off x="8494776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3" name="map-4-22"/>
          <p:cNvSpPr/>
          <p:nvPr/>
        </p:nvSpPr>
        <p:spPr>
          <a:xfrm>
            <a:off x="8759952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4" name="map-4-23"/>
          <p:cNvSpPr/>
          <p:nvPr/>
        </p:nvSpPr>
        <p:spPr>
          <a:xfrm>
            <a:off x="9025128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5" name="map-4-24"/>
          <p:cNvSpPr/>
          <p:nvPr/>
        </p:nvSpPr>
        <p:spPr>
          <a:xfrm>
            <a:off x="9290304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6" name="map-4-25"/>
          <p:cNvSpPr/>
          <p:nvPr/>
        </p:nvSpPr>
        <p:spPr>
          <a:xfrm>
            <a:off x="9555480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7" name="map-4-26"/>
          <p:cNvSpPr/>
          <p:nvPr/>
        </p:nvSpPr>
        <p:spPr>
          <a:xfrm>
            <a:off x="9820656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8" name="map-4-27"/>
          <p:cNvSpPr/>
          <p:nvPr/>
        </p:nvSpPr>
        <p:spPr>
          <a:xfrm>
            <a:off x="10085832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9" name="map-4-28"/>
          <p:cNvSpPr/>
          <p:nvPr/>
        </p:nvSpPr>
        <p:spPr>
          <a:xfrm>
            <a:off x="10351008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0" name="map-4-29"/>
          <p:cNvSpPr/>
          <p:nvPr/>
        </p:nvSpPr>
        <p:spPr>
          <a:xfrm>
            <a:off x="10616184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1" name="map-4-30"/>
          <p:cNvSpPr/>
          <p:nvPr/>
        </p:nvSpPr>
        <p:spPr>
          <a:xfrm>
            <a:off x="10881360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2" name="map-4-31"/>
          <p:cNvSpPr/>
          <p:nvPr/>
        </p:nvSpPr>
        <p:spPr>
          <a:xfrm>
            <a:off x="11146536" y="5056632"/>
            <a:ext cx="237744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3" name="legend-private"/>
          <p:cNvSpPr/>
          <p:nvPr/>
        </p:nvSpPr>
        <p:spPr>
          <a:xfrm>
            <a:off x="2926080" y="5943600"/>
            <a:ext cx="237744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3291840" y="5916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private to one process</a:t>
            </a:r>
            <a:endParaRPr lang="en-US" sz="1400" dirty="0"/>
          </a:p>
        </p:txBody>
      </p:sp>
      <p:sp>
        <p:nvSpPr>
          <p:cNvPr id="175" name="legend-shared"/>
          <p:cNvSpPr/>
          <p:nvPr/>
        </p:nvSpPr>
        <p:spPr>
          <a:xfrm>
            <a:off x="6217920" y="5943600"/>
            <a:ext cx="237744" cy="23774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6583680" y="5916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shared by parent and child (COW)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Testing and validation: 10/10 tests, 16 checks per run</a:t>
            </a:r>
            <a:endParaRPr lang="en-US" sz="3400" dirty="0"/>
          </a:p>
        </p:txBody>
      </p:sp>
      <p:sp>
        <p:nvSpPr>
          <p:cNvPr id="3" name="test-card-0"/>
          <p:cNvSpPr/>
          <p:nvPr/>
        </p:nvSpPr>
        <p:spPr>
          <a:xfrm>
            <a:off x="548640" y="1600200"/>
            <a:ext cx="35204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0020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Default 32 pages</a:t>
            </a:r>
            <a:endParaRPr lang="en-US" sz="1400" dirty="0"/>
          </a:p>
        </p:txBody>
      </p:sp>
      <p:sp>
        <p:nvSpPr>
          <p:cNvPr id="6" name="test-card-1"/>
          <p:cNvSpPr/>
          <p:nvPr/>
        </p:nvSpPr>
        <p:spPr>
          <a:xfrm>
            <a:off x="4251960" y="1600200"/>
            <a:ext cx="35204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34840" y="16002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160020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Child writes 0 (pure sharing)</a:t>
            </a:r>
            <a:endParaRPr lang="en-US" sz="1400" dirty="0"/>
          </a:p>
        </p:txBody>
      </p:sp>
      <p:sp>
        <p:nvSpPr>
          <p:cNvPr id="9" name="test-card-2"/>
          <p:cNvSpPr/>
          <p:nvPr/>
        </p:nvSpPr>
        <p:spPr>
          <a:xfrm>
            <a:off x="548640" y="2496312"/>
            <a:ext cx="35204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9631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496312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Child writes all (worst case)</a:t>
            </a:r>
            <a:endParaRPr lang="en-US" sz="1400" dirty="0"/>
          </a:p>
        </p:txBody>
      </p:sp>
      <p:sp>
        <p:nvSpPr>
          <p:cNvPr id="12" name="test-card-3"/>
          <p:cNvSpPr/>
          <p:nvPr/>
        </p:nvSpPr>
        <p:spPr>
          <a:xfrm>
            <a:off x="4251960" y="2496312"/>
            <a:ext cx="35204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249631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496312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Single-page region</a:t>
            </a:r>
            <a:endParaRPr lang="en-US" sz="1400" dirty="0"/>
          </a:p>
        </p:txBody>
      </p:sp>
      <p:sp>
        <p:nvSpPr>
          <p:cNvPr id="15" name="test-card-4"/>
          <p:cNvSpPr/>
          <p:nvPr/>
        </p:nvSpPr>
        <p:spPr>
          <a:xfrm>
            <a:off x="548640" y="3392424"/>
            <a:ext cx="35204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39242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39242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1024 pages (4 MiB)</a:t>
            </a:r>
            <a:endParaRPr lang="en-US" sz="1400" dirty="0"/>
          </a:p>
        </p:txBody>
      </p:sp>
      <p:sp>
        <p:nvSpPr>
          <p:cNvPr id="18" name="test-card-5"/>
          <p:cNvSpPr/>
          <p:nvPr/>
        </p:nvSpPr>
        <p:spPr>
          <a:xfrm>
            <a:off x="4251960" y="3392424"/>
            <a:ext cx="35204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4840" y="339242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339242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Parent-heavy writes</a:t>
            </a:r>
            <a:endParaRPr lang="en-US" sz="1400" dirty="0"/>
          </a:p>
        </p:txBody>
      </p:sp>
      <p:sp>
        <p:nvSpPr>
          <p:cNvPr id="21" name="test-card-6"/>
          <p:cNvSpPr/>
          <p:nvPr/>
        </p:nvSpPr>
        <p:spPr>
          <a:xfrm>
            <a:off x="548640" y="4288536"/>
            <a:ext cx="35204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28853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28853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Simulator assertions</a:t>
            </a:r>
            <a:endParaRPr lang="en-US" sz="1400" dirty="0"/>
          </a:p>
        </p:txBody>
      </p:sp>
      <p:sp>
        <p:nvSpPr>
          <p:cNvPr id="24" name="test-card-7"/>
          <p:cNvSpPr/>
          <p:nvPr/>
        </p:nvSpPr>
        <p:spPr>
          <a:xfrm>
            <a:off x="4251960" y="4288536"/>
            <a:ext cx="35204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428853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428853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Benchmark CSV output</a:t>
            </a:r>
            <a:endParaRPr lang="en-US" sz="1400" dirty="0"/>
          </a:p>
        </p:txBody>
      </p:sp>
      <p:sp>
        <p:nvSpPr>
          <p:cNvPr id="27" name="test-card-8"/>
          <p:cNvSpPr/>
          <p:nvPr/>
        </p:nvSpPr>
        <p:spPr>
          <a:xfrm>
            <a:off x="548640" y="5184648"/>
            <a:ext cx="35204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518464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T9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18464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Invalid input rejected</a:t>
            </a:r>
            <a:endParaRPr lang="en-US" sz="1400" dirty="0"/>
          </a:p>
        </p:txBody>
      </p:sp>
      <p:sp>
        <p:nvSpPr>
          <p:cNvPr id="30" name="test-card-9"/>
          <p:cNvSpPr/>
          <p:nvPr/>
        </p:nvSpPr>
        <p:spPr>
          <a:xfrm>
            <a:off x="4251960" y="5184648"/>
            <a:ext cx="35204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34840" y="518464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T10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518464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repeated runs</a:t>
            </a:r>
            <a:endParaRPr lang="en-US" sz="1400" dirty="0"/>
          </a:p>
        </p:txBody>
      </p:sp>
      <p:sp>
        <p:nvSpPr>
          <p:cNvPr id="33" name="checks-card"/>
          <p:cNvSpPr/>
          <p:nvPr/>
        </p:nvSpPr>
        <p:spPr>
          <a:xfrm>
            <a:off x="8138160" y="160020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Checked every run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23774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page states after each step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fault count = pages written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data isolation in both processes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clean child exit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Results: the kernel behaves exactly as predicted</a:t>
            </a:r>
            <a:endParaRPr lang="en-US" sz="3400" dirty="0"/>
          </a:p>
        </p:txBody>
      </p:sp>
      <p:sp>
        <p:nvSpPr>
          <p:cNvPr id="3" name="stat-card-0"/>
          <p:cNvSpPr/>
          <p:nvPr/>
        </p:nvSpPr>
        <p:spPr>
          <a:xfrm>
            <a:off x="548640" y="164592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page faults when the child reads all pages</a:t>
            </a:r>
            <a:endParaRPr lang="en-US" sz="1500" dirty="0"/>
          </a:p>
        </p:txBody>
      </p:sp>
      <p:sp>
        <p:nvSpPr>
          <p:cNvPr id="6" name="stat-card-1"/>
          <p:cNvSpPr/>
          <p:nvPr/>
        </p:nvSpPr>
        <p:spPr>
          <a:xfrm>
            <a:off x="3383280" y="164592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= 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faults equal pages written by the child</a:t>
            </a:r>
            <a:endParaRPr lang="en-US" sz="1500" dirty="0"/>
          </a:p>
        </p:txBody>
      </p:sp>
      <p:sp>
        <p:nvSpPr>
          <p:cNvPr id="9" name="stat-card-2"/>
          <p:cNvSpPr/>
          <p:nvPr/>
        </p:nvSpPr>
        <p:spPr>
          <a:xfrm>
            <a:off x="6217920" y="164592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copies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made by fork() itself: 32/32 pages shared</a:t>
            </a:r>
            <a:endParaRPr lang="en-US" sz="1500" dirty="0"/>
          </a:p>
        </p:txBody>
      </p:sp>
      <p:sp>
        <p:nvSpPr>
          <p:cNvPr id="12" name="stat-card-3"/>
          <p:cNvSpPr/>
          <p:nvPr/>
        </p:nvSpPr>
        <p:spPr>
          <a:xfrm>
            <a:off x="9052560" y="1645920"/>
            <a:ext cx="26517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16/16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internal checks passed in the default run</a:t>
            </a:r>
            <a:endParaRPr lang="en-US" sz="1500" dirty="0"/>
          </a:p>
        </p:txBody>
      </p:sp>
      <p:sp>
        <p:nvSpPr>
          <p:cNvPr id="15" name="pfn-card"/>
          <p:cNvSpPr/>
          <p:nvPr/>
        </p:nvSpPr>
        <p:spPr>
          <a:xfrm>
            <a:off x="548640" y="4023360"/>
            <a:ext cx="110642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Physical proof (run as root with --pfn)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7091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 before child writes:  parent PFN 0x1189c6  =  child PFN 0x1189c6  (same physical frame)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 after child writes:   parent keeps 0x1189c6;  child moves to 0x1189e5  (private copy)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never written:       0x1189e8 in both processes  (still shared)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Benchmark: fork() is 50-80x cheaper than an eager copy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0408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st-card"/>
          <p:cNvSpPr/>
          <p:nvPr/>
        </p:nvSpPr>
        <p:spPr>
          <a:xfrm>
            <a:off x="7955280" y="1645920"/>
            <a:ext cx="36576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783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~2.5 us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 page for the first write (fault + 4 KiB copy)</a:t>
            </a:r>
            <a:endParaRPr lang="en-US" sz="1500" dirty="0"/>
          </a:p>
        </p:txBody>
      </p:sp>
      <p:sp>
        <p:nvSpPr>
          <p:cNvPr id="7" name="second-card"/>
          <p:cNvSpPr/>
          <p:nvPr/>
        </p:nvSpPr>
        <p:spPr>
          <a:xfrm>
            <a:off x="7955280" y="3931920"/>
            <a:ext cx="36576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83880" y="4069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~0.01 us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4937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 page for the second write: the copy is already private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Impact and real-world uses</a:t>
            </a:r>
            <a:endParaRPr lang="en-US" sz="3400" dirty="0"/>
          </a:p>
        </p:txBody>
      </p:sp>
      <p:sp>
        <p:nvSpPr>
          <p:cNvPr id="3" name="impact-card-0"/>
          <p:cNvSpPr/>
          <p:nvPr/>
        </p:nvSpPr>
        <p:spPr>
          <a:xfrm>
            <a:off x="548640" y="160020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mpact-dot-0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0020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Shells and servers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313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fork()+exec() copies almost nothing</a:t>
            </a:r>
            <a:endParaRPr lang="en-US" sz="1500" dirty="0"/>
          </a:p>
        </p:txBody>
      </p:sp>
      <p:sp>
        <p:nvSpPr>
          <p:cNvPr id="7" name="impact-card-1"/>
          <p:cNvSpPr/>
          <p:nvPr/>
        </p:nvSpPr>
        <p:spPr>
          <a:xfrm>
            <a:off x="6172200" y="160020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mpact-dot-1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/ databases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313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background snapshots of live memory</a:t>
            </a:r>
            <a:endParaRPr lang="en-US" sz="1500" dirty="0"/>
          </a:p>
        </p:txBody>
      </p:sp>
      <p:sp>
        <p:nvSpPr>
          <p:cNvPr id="11" name="impact-card-2"/>
          <p:cNvSpPr/>
          <p:nvPr/>
        </p:nvSpPr>
        <p:spPr>
          <a:xfrm>
            <a:off x="548640" y="306324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mpact-dot-2"/>
          <p:cNvSpPr/>
          <p:nvPr/>
        </p:nvSpPr>
        <p:spPr>
          <a:xfrm>
            <a:off x="822960" y="3429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00200" y="3291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and VMs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7764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shared image layers, cheap snapshots</a:t>
            </a:r>
            <a:endParaRPr lang="en-US" sz="1500" dirty="0"/>
          </a:p>
        </p:txBody>
      </p:sp>
      <p:sp>
        <p:nvSpPr>
          <p:cNvPr id="15" name="impact-card-3"/>
          <p:cNvSpPr/>
          <p:nvPr/>
        </p:nvSpPr>
        <p:spPr>
          <a:xfrm>
            <a:off x="6172200" y="306324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mpact-dot-3"/>
          <p:cNvSpPr/>
          <p:nvPr/>
        </p:nvSpPr>
        <p:spPr>
          <a:xfrm>
            <a:off x="6446520" y="3429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3291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MAP_PRIVATE files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7764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private edits without touching the file</a:t>
            </a:r>
            <a:endParaRPr lang="en-US" sz="1500" dirty="0"/>
          </a:p>
        </p:txBody>
      </p:sp>
      <p:sp>
        <p:nvSpPr>
          <p:cNvPr id="19" name="impact-card-4"/>
          <p:cNvSpPr/>
          <p:nvPr/>
        </p:nvSpPr>
        <p:spPr>
          <a:xfrm>
            <a:off x="548640" y="452628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mpact-dot-4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00200" y="4754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savings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239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identical pages stay as one physical copy</a:t>
            </a:r>
            <a:endParaRPr lang="en-US" sz="1500" dirty="0"/>
          </a:p>
        </p:txBody>
      </p:sp>
      <p:sp>
        <p:nvSpPr>
          <p:cNvPr id="23" name="impact-card-5"/>
          <p:cNvSpPr/>
          <p:nvPr/>
        </p:nvSpPr>
        <p:spPr>
          <a:xfrm>
            <a:off x="6172200" y="452628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mpact-dot-5"/>
          <p:cNvSpPr/>
          <p:nvPr/>
        </p:nvSpPr>
        <p:spPr>
          <a:xfrm>
            <a:off x="6446520" y="4892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23760" y="4754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tool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5239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makes virtual memory observable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Team roles, limitations and future work</a:t>
            </a:r>
            <a:endParaRPr lang="en-US" sz="3400" dirty="0"/>
          </a:p>
        </p:txBody>
      </p:sp>
      <p:sp>
        <p:nvSpPr>
          <p:cNvPr id="3" name="team-card"/>
          <p:cNvSpPr/>
          <p:nvPr/>
        </p:nvSpPr>
        <p:spPr>
          <a:xfrm>
            <a:off x="548640" y="1554480"/>
            <a:ext cx="640080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Team contributions (edit names)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Member 1: demo engine, fork and pipe orchestration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Member 2: pagemap / getrusage observer, PFN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Member 3: tests, benchmark, results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Member 4: simulator, report, README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Member 5: slides, live demo, GitHub</a:t>
            </a:r>
            <a:endParaRPr lang="en-US" sz="1700" dirty="0"/>
          </a:p>
        </p:txBody>
      </p:sp>
      <p:sp>
        <p:nvSpPr>
          <p:cNvPr id="6" name="future-card"/>
          <p:cNvSpPr/>
          <p:nvPr/>
        </p:nvSpPr>
        <p:spPr>
          <a:xfrm>
            <a:off x="7223760" y="1554480"/>
            <a:ext cx="4389120" cy="457200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Limitations / next steps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37744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Linux-only observer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Huge-page (2 MiB) COW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File-backed MAP_PRIVATE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Multi-threaded parents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GUI page-map viewer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459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fork() copies page tables.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Writes copy pages.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Live demo next: ./cow_demo   |   make test   |   ./cow_demo --bench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Thank you  -  Questions?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github.com/&lt;your-team&gt;/cow-demo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W Demo">
  <a:themeElements>
    <a:clrScheme name="COW Demo">
      <a:dk1>
        <a:srgbClr val="0B1B2E"/>
      </a:dk1>
      <a:lt1>
        <a:srgbClr val="FFFFFF"/>
      </a:lt1>
      <a:dk2>
        <a:srgbClr val="1F3A5A"/>
      </a:dk2>
      <a:lt2>
        <a:srgbClr val="EEF3F8"/>
      </a:lt2>
      <a:accent1>
        <a:srgbClr val="0F9D8F"/>
      </a:accent1>
      <a:accent2>
        <a:srgbClr val="F2A33A"/>
      </a:accent2>
      <a:accent3>
        <a:srgbClr val="4C6EF5"/>
      </a:accent3>
      <a:accent4>
        <a:srgbClr val="E5484D"/>
      </a:accent4>
      <a:accent5>
        <a:srgbClr val="6B7C93"/>
      </a:accent5>
      <a:accent6>
        <a:srgbClr val="2FB171"/>
      </a:accent6>
      <a:hlink>
        <a:srgbClr val="0F9D8F"/>
      </a:hlink>
      <a:folHlink>
        <a:srgbClr val="6B7C93"/>
      </a:folHlink>
    </a:clrScheme>
    <a:fontScheme name="COW Dem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Copy-on-Write Memory Demonstrator</dc:title>
  <dc:subject>PptxGenJS Presentation</dc:subject>
  <dc:creator>Project Team</dc:creator>
  <cp:lastModifiedBy>Project Team</cp:lastModifiedBy>
  <cp:revision>1</cp:revision>
  <dcterms:created xsi:type="dcterms:W3CDTF">2026-10-17T04:56:52Z</dcterms:created>
  <dcterms:modified xsi:type="dcterms:W3CDTF">2026-10-17T04:56:52Z</dcterms:modified>
</cp:coreProperties>
</file>